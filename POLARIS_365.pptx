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3657600" cy="27432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FE3B7"/>
                </a:solidFill>
                <a:latin typeface="Space Grotesk"/>
              </a:rPr>
              <a:t>P.O.L.A.R.I.S.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>
                <a:solidFill>
                  <a:srgbClr val="BDF4FF"/>
                </a:solidFill>
                <a:latin typeface="Space Grotesk"/>
              </a:rPr>
              <a:t>Orbital Platform using Lasers for</a:t>
            </a:r>
          </a:p>
          <a:p>
            <a:pPr algn="l">
              <a:lnSpc>
                <a:spcPct val="140000"/>
              </a:lnSpc>
            </a:pPr>
            <a:r>
              <a:rPr sz="2000">
                <a:solidFill>
                  <a:srgbClr val="BDF4FF"/>
                </a:solidFill>
                <a:latin typeface="Space Grotesk"/>
              </a:rPr>
              <a:t>Innovative Solar Reception and Supply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9144000" cy="27432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66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D4C5AB"/>
                </a:solidFill>
                <a:latin typeface="Inter"/>
              </a:rPr>
              <a:t>Ioan CHELARU  ·  Albert OLARIU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D4C5AB"/>
                </a:solidFill>
                <a:latin typeface="Inter"/>
              </a:rPr>
              <a:t>ONCS 2026</a:t>
            </a:r>
          </a:p>
        </p:txBody>
      </p:sp>
    </p:spTree>
  </p:cSld>
  <p:clrMapOvr>
    <a:masterClrMapping/>
  </p:clrMapOvr>
  <p:transition spd="slow">
    <p:morph origin="objec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Global energy demand is rising.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Fossil fuels are finite.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The atmosphere limits solar power on Earth.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It's time to think beyond our planet.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P.O.L.A.R.I.S. — an Orbital Platform using Lasers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for Innovative Solar Reception and Supply.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Energy harvested near the Sun. Delivered to Earth.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1FF89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1FF89"/>
                </a:solidFill>
                <a:latin typeface="Space Grotesk"/>
              </a:rPr>
              <a:t>THE DYSON SWARM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30 orbital mirrors, each 1 km in diameter,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positioned just 7 million km from the Sun —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capturing solar radiation at over 600,000 W/m².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THE POWER OF</a:t>
            </a:r>
          </a:p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PROXIMITY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At 7 million km from the Sun, solar intensity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is 450× greater than at Earth's orbit.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That's the energy advantage we're unlocking.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LASER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4 collector satellites transform reflected sunlight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into high-power laser beams — with 43% conversion efficiency.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Raw solar energy becomes a directed beam of power.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1FF89"/>
                </a:solidFill>
                <a:latin typeface="Inter"/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1FF89"/>
                </a:solidFill>
                <a:latin typeface="Space Grotesk"/>
              </a:rPr>
              <a:t>THE LAGRANGE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L4 and L5 — gravitationally stable points in the Sun-Earth system.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POLARIS uses them as energy relay nodes,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each carrying ~2.83 terawatts of laser power.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ORBITAL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DF4FF"/>
                </a:solidFill>
                <a:latin typeface="Space Grotesk"/>
              </a:rPr>
              <a:t>LAGRANGE SATELLITE</a:t>
            </a:r>
          </a:p>
          <a:p>
            <a:pPr algn="l"/>
            <a:r>
              <a:rPr sz="3600" b="1">
                <a:solidFill>
                  <a:srgbClr val="BDF4FF"/>
                </a:solidFill>
                <a:latin typeface="Space Grotesk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In 1772, Lagrange solved a problem Newton couldn't: where can a third body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remain stable in a two-body system without fuel? The answer: 5 points.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POLARIS uses L4 and L5 — 60° ahead and behind Earth, at 1 AU from the Sun.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Collector Satellites orbit near the Sun at high angular velocity.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Without a fixed relay, their laser beams would sweep unpredictably across Earth.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Lagrange nodes break the path into two controlled legs: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Collector → L4/L5 (moving-to-fixed) · L4/L5 → Polar Station (fixed-to-fixed).</a:t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>
                <a:solidFill>
                  <a:srgbClr val="D4C5AB"/>
                </a:solidFill>
                <a:latin typeface="Manrope"/>
              </a:rPr>
              <a:t>Result: a high-power laser beam that never oscillates over inhabited territory.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960120"/>
            <a:ext cx="365760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SUPERCONDUCTOR</a:t>
            </a:r>
          </a:p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YBCO superconducting cables — inspired by consultations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with CERN physicists — operate at 77K using liquid nitrogen.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Just ~7 tonnes of cable. Nearly zero transmission losses.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Unlike NbTi cables (CERN LHC: 1.9K), YBCO operates at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liquid nitrogen temperature — far more practical at scale.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1FF89"/>
                </a:solidFill>
                <a:latin typeface="Inter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1FF89"/>
                </a:solidFill>
                <a:latin typeface="Space Grotesk"/>
              </a:rPr>
              <a:t>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2 polar stations × 800 GW each = 1.6 terawatts.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That's approximately 48% of all global electricity consumption.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Global demand: 17.7 TW total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POLARIS projected output: 420.5 TW theoretical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Efficiency delta: +2,275%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91FF89"/>
                </a:solidFill>
                <a:latin typeface="Space Grotesk"/>
              </a:rPr>
              <a:t>1.6 TW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C5AB"/>
                </a:solidFill>
                <a:latin typeface="Inter"/>
              </a:rPr>
              <a:t>delivered to Earth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FLOATING POWER</a:t>
            </a:r>
          </a:p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Each orbital power station weighs just 4 tonnes,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suspended at 30 km altitude by helium balloons —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applying Archimedes' principle at a planetary scale.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STAR POWER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The surplus energy at L4/L5 doesn't stop there.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The Star Power Grid extension uses GEO microwave transmission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to reach remote and underserved regions worldwide —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clean energy, no ground infrastructure needed.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CIVILIZATIONAL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E3B7"/>
                </a:solidFill>
                <a:latin typeface="Space Grotesk"/>
              </a:rPr>
              <a:t>KARDASHEV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A Type 0 civilization uses energy from dead organic matter.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A Type I civilization harnesses all energy available on its planet.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Humanity is currently at ~0.73 on the Kardashev Scale.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POLARIS is the bridge — a coherent path from Type 0 toward Type I.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Not just an energy project. A civilizational transition.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91F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1FF89"/>
                </a:solidFill>
                <a:latin typeface="Inter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1FF89"/>
                </a:solidFill>
                <a:latin typeface="Space Grotesk"/>
              </a:rPr>
              <a:t>ORIGINAL</a:t>
            </a:r>
          </a:p>
          <a:p>
            <a:pPr algn="l"/>
            <a:r>
              <a:rPr sz="4400" b="1">
                <a:solidFill>
                  <a:srgbClr val="91FF89"/>
                </a:solidFill>
                <a:latin typeface="Space Grotesk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No existing study combines: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A Dyson swarm at 7 million km from the Sun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Lagrange energy relay hubs (L4/L5)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HTS YBCO superconducting transmission cables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Balloon-suspended stratospheric polar stations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POLARIS is a genuinely new architecture.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GROUNDED IN</a:t>
            </a:r>
          </a:p>
          <a:p>
            <a:pPr algn="l"/>
            <a:r>
              <a:rPr sz="4400" b="1">
                <a:solidFill>
                  <a:srgbClr val="BDF4FF"/>
                </a:solidFill>
                <a:latin typeface="Space Grotesk"/>
              </a:rPr>
              <a:t>REAL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NASA Parker Solar Probe — reached 6.1 million km from the Sun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CERN — YBCO superconductor research and consultation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JAXA — microwave wireless energy transmission experiments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· NASA NIAC — space-based solar power feasibility studies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D4C5AB"/>
                </a:solidFill>
                <a:latin typeface="Manrope"/>
              </a:rPr>
              <a:t>POLARIS builds on real, cutting-edge science.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60120"/>
            <a:ext cx="4937760" cy="5212080"/>
          </a:xfrm>
          <a:prstGeom prst="rect">
            <a:avLst/>
          </a:prstGeom>
        </p:spPr>
      </p:pic>
    </p:spTree>
  </p:cSld>
  <p:clrMapOvr>
    <a:masterClrMapping/>
  </p:clrMapOvr>
  <p:transition spd="slow">
    <p:morph origin="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1005840"/>
            <a:ext cx="45720" cy="3840480"/>
          </a:xfrm>
          <a:prstGeom prst="rect">
            <a:avLst/>
          </a:prstGeom>
          <a:solidFill>
            <a:srgbClr val="FFE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E3B7"/>
                </a:solidFill>
                <a:latin typeface="Space Grotesk"/>
              </a:rPr>
              <a:t>THE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>
                <a:solidFill>
                  <a:srgbClr val="D4C5AB"/>
                </a:solidFill>
                <a:latin typeface="Manrope"/>
              </a:rPr>
              <a:t>POLARIS is not just a concept —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D4C5AB"/>
                </a:solidFill>
                <a:latin typeface="Manrope"/>
              </a:rPr>
              <a:t>it's a coherent theoretical model showing that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D4C5AB"/>
                </a:solidFill>
                <a:latin typeface="Manrope"/>
              </a:rPr>
              <a:t>space-based solar energy could become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D4C5AB"/>
                </a:solidFill>
                <a:latin typeface="Manrope"/>
              </a:rPr>
              <a:t>the backbone of humanity's global energy infrastructure</a:t>
            </a:r>
          </a:p>
          <a:p>
            <a:pPr algn="l">
              <a:lnSpc>
                <a:spcPct val="145000"/>
              </a:lnSpc>
            </a:pPr>
            <a:r>
              <a:rPr sz="1800">
                <a:solidFill>
                  <a:srgbClr val="D4C5AB"/>
                </a:solidFill>
                <a:latin typeface="Manrope"/>
              </a:rPr>
              <a:t>in the 21st century.</a:t>
            </a:r>
          </a:p>
        </p:txBody>
      </p:sp>
    </p:spTree>
  </p:cSld>
  <p:clrMapOvr>
    <a:masterClrMapping/>
  </p:clrMapOvr>
  <p:transition spd="slow">
    <p:morph origin="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45720" cy="5943600"/>
          </a:xfrm>
          <a:prstGeom prst="rect">
            <a:avLst/>
          </a:prstGeom>
          <a:solidFill>
            <a:srgbClr val="BD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DF4FF"/>
                </a:solidFill>
                <a:latin typeface="Inter"/>
              </a:rPr>
              <a:t>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E3B7"/>
                </a:solidFill>
                <a:latin typeface="Space Grotesk"/>
              </a:rPr>
              <a:t>POLARIS BEARS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BDF4FF"/>
                </a:solidFill>
                <a:latin typeface="Space Grotesk"/>
              </a:rPr>
              <a:t>ECHIPA &amp;</a:t>
            </a:r>
          </a:p>
          <a:p>
            <a:pPr algn="l"/>
            <a:r>
              <a:rPr sz="4000" b="1">
                <a:solidFill>
                  <a:srgbClr val="BDF4FF"/>
                </a:solidFill>
                <a:latin typeface="Space Grotesk"/>
              </a:rPr>
              <a:t>BIBLIOGRAFIE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E3B7"/>
                </a:solidFill>
                <a:latin typeface="Inter"/>
              </a:rPr>
              <a:t>ECHIPA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87168"/>
            <a:ext cx="5029200" cy="18288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Ioan CHELARU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  Arhitectură sistem, calcule energetice,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  superconductori YBCO, dinamică orbitală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Albert OLARIU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  Modelare vizuală, scala Kardashev,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  rețea Star Power Grid, prezentare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Colaboratori: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4C5AB"/>
                </a:solidFill>
                <a:latin typeface="Manrope"/>
              </a:rPr>
              <a:t>  — de completat —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32004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DF4FF"/>
                </a:solidFill>
                <a:latin typeface="Inter"/>
              </a:rPr>
              <a:t>BIBLIOGRAFIE — HARVARD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F4632"/>
                </a:solidFill>
                <a:latin typeface="Inter"/>
              </a:rPr>
              <a:t>Mankins (2011) · ESA (2023) · Eddowes (2017) · Chou et al. (2019) · Glaser (1968) · Benford &amp; Benford (2015) · Kardashev (1964) · Aschenbrenner (2023) · NASA NIAC · Parker Solar Probe · Lagrange Points · JAXA SSPS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46520"/>
            <a:ext cx="11430000" cy="22860"/>
          </a:xfrm>
          <a:prstGeom prst="rect">
            <a:avLst/>
          </a:prstGeom>
          <a:solidFill>
            <a:srgbClr val="4F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F4632"/>
                </a:solidFill>
                <a:latin typeface="Inter"/>
              </a:rPr>
              <a:t>ONCS 2026 — P.O.L.A.R.I.S. — ENERGIE SOLARĂ ORBITALĂ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F4632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ransition spd="slow">
    <p:morph origin="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