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379" y="0"/>
            <a:ext cx="1229445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F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600200"/>
            <a:ext cx="5029200" cy="27432"/>
          </a:xfrm>
          <a:prstGeom prst="rect">
            <a:avLst/>
          </a:prstGeom>
          <a:solidFill>
            <a:srgbClr val="BD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91640"/>
            <a:ext cx="9144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FFE3B7"/>
                </a:solidFill>
                <a:latin typeface="Futura Md BT"/>
              </a:rPr>
              <a:t>P.O.L.A.R.I.S.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204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>
                <a:solidFill>
                  <a:srgbClr val="BDF4FF"/>
                </a:solidFill>
                <a:latin typeface="Futura Md BT"/>
              </a:rPr>
              <a:t>Platforma Orbitala Laser pt.</a:t>
            </a:r>
          </a:p>
          <a:p>
            <a:pPr algn="l">
              <a:lnSpc>
                <a:spcPct val="140000"/>
              </a:lnSpc>
            </a:pPr>
            <a:r>
              <a:rPr sz="2200">
                <a:solidFill>
                  <a:srgbClr val="BDF4FF"/>
                </a:solidFill>
                <a:latin typeface="Futura Md BT"/>
              </a:rPr>
              <a:t>Alimentare si Receptie Inovativa Solara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074920"/>
            <a:ext cx="9144000" cy="22860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D4C5AB"/>
                </a:solidFill>
                <a:latin typeface="Segoe UI"/>
              </a:rPr>
              <a:t>Ioan CHELARU  ·  Albert OLARIU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D4C5AB"/>
                </a:solidFill>
                <a:latin typeface="Segoe UI"/>
              </a:rPr>
              <a:t>ONCS 2026  ·  Sectiunea A  ·  Stiinte Exacte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320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Futura Md BT"/>
              </a:rPr>
              <a:t>POLARIS BEARS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37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Segoe UI"/>
              </a:rPr>
              <a:t>00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379" y="0"/>
            <a:ext cx="1229445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914400"/>
            <a:ext cx="45720" cy="4114800"/>
          </a:xfrm>
          <a:prstGeom prst="rect">
            <a:avLst/>
          </a:prstGeom>
          <a:solidFill>
            <a:srgbClr val="BD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DF4FF"/>
                </a:solidFill>
                <a:latin typeface="Segoe UI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20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Futura Md BT"/>
              </a:rPr>
              <a:t>POLARIS BEARS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6446520"/>
            <a:ext cx="114300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Segoe UI"/>
              </a:rPr>
              <a:t>ONCS 2026  —  P.O.L.A.R.I.S.  —  ENERGIE SOLARA ORBITALA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37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00584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BDF4FF"/>
                </a:solidFill>
                <a:latin typeface="Futura Md BT"/>
              </a:rPr>
              <a:t>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175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>
                <a:solidFill>
                  <a:srgbClr val="DFE2F3"/>
                </a:solidFill>
                <a:latin typeface="Segoe UI"/>
              </a:rPr>
              <a:t>Cererea globala de energie creste an dupa an.</a:t>
            </a:r>
          </a:p>
          <a:p>
            <a:pPr algn="l">
              <a:lnSpc>
                <a:spcPct val="160000"/>
              </a:lnSpc>
            </a:pPr>
            <a:r>
              <a:rPr sz="2000">
                <a:solidFill>
                  <a:srgbClr val="DFE2F3"/>
                </a:solidFill>
                <a:latin typeface="Segoe UI"/>
              </a:rPr>
              <a:t>Combustibilii fosili sunt limitati si poluanti.</a:t>
            </a:r>
          </a:p>
          <a:p>
            <a:pPr algn="l">
              <a:lnSpc>
                <a:spcPct val="160000"/>
              </a:lnSpc>
            </a:pPr>
            <a:r>
              <a:rPr sz="2000">
                <a:solidFill>
                  <a:srgbClr val="DFE2F3"/>
                </a:solidFill>
                <a:latin typeface="Segoe UI"/>
              </a:rPr>
              <a:t>Atmosfera blocheaza 30% din energia solara.</a:t>
            </a:r>
          </a:p>
          <a:p>
            <a:pPr algn="l">
              <a:lnSpc>
                <a:spcPct val="160000"/>
              </a:lnSpc>
            </a:pPr>
            <a:r>
              <a:rPr sz="2000">
                <a:solidFill>
                  <a:srgbClr val="DFE2F3"/>
                </a:solidFill>
                <a:latin typeface="Segoe UI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2000">
                <a:solidFill>
                  <a:srgbClr val="DFE2F3"/>
                </a:solidFill>
                <a:latin typeface="Segoe UI"/>
              </a:rPr>
              <a:t>Solutia nu se afla pe Pamant.</a:t>
            </a:r>
          </a:p>
          <a:p>
            <a:pPr algn="l">
              <a:lnSpc>
                <a:spcPct val="160000"/>
              </a:lnSpc>
            </a:pPr>
            <a:r>
              <a:rPr sz="2000">
                <a:solidFill>
                  <a:srgbClr val="DFE2F3"/>
                </a:solidFill>
                <a:latin typeface="Segoe UI"/>
              </a:rPr>
              <a:t>Solutia se afla in spatiu.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379" y="0"/>
            <a:ext cx="1229445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Futura Md BT"/>
              </a:rPr>
              <a:t>POLARIS BEARS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E3B7"/>
                </a:solidFill>
                <a:latin typeface="Segoe UI"/>
              </a:rPr>
              <a:t>VIZIUNE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14400"/>
            <a:ext cx="54864" cy="5029200"/>
          </a:xfrm>
          <a:prstGeom prst="rect">
            <a:avLst/>
          </a:prstGeom>
          <a:solidFill>
            <a:srgbClr val="FF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Futura Md BT"/>
              </a:rPr>
              <a:t>Nu este o masina.</a:t>
            </a:r>
          </a:p>
          <a:p>
            <a:pPr algn="l"/>
            <a:r>
              <a:rPr sz="4200" b="1">
                <a:solidFill>
                  <a:srgbClr val="FFFFFF"/>
                </a:solidFill>
                <a:latin typeface="Futura Md BT"/>
              </a:rPr>
              <a:t>Este o arhitectura orbitala</a:t>
            </a:r>
          </a:p>
          <a:p>
            <a:pPr algn="l"/>
            <a:r>
              <a:rPr sz="4200" b="1">
                <a:solidFill>
                  <a:srgbClr val="FFFFFF"/>
                </a:solidFill>
                <a:latin typeface="Futura Md BT"/>
              </a:rPr>
              <a:t>care transforma lumina stelara</a:t>
            </a:r>
          </a:p>
          <a:p>
            <a:pPr algn="l"/>
            <a:r>
              <a:rPr sz="4200" b="1">
                <a:solidFill>
                  <a:srgbClr val="FFFFFF"/>
                </a:solidFill>
                <a:latin typeface="Futura Md BT"/>
              </a:rPr>
              <a:t>in putere planetara.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E3B7"/>
                </a:solidFill>
                <a:latin typeface="Segoe UI"/>
              </a:rPr>
              <a:t>P  ·  O  ·  L  ·  A  ·  R  ·  I  ·  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6446520"/>
            <a:ext cx="114300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Segoe UI"/>
              </a:rPr>
              <a:t>ONCS 2026  —  P.O.L.A.R.I.S.  —  ENERGIE SOLARA ORBITALA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914400"/>
            <a:ext cx="45720" cy="4114800"/>
          </a:xfrm>
          <a:prstGeom prst="rect">
            <a:avLst/>
          </a:prstGeom>
          <a:solidFill>
            <a:srgbClr val="91F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1FF89"/>
                </a:solidFill>
                <a:latin typeface="Segoe UI"/>
              </a:rPr>
              <a:t>OBIECTIVE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Futura Md BT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Segoe UI"/>
              </a:rPr>
              <a:t>ONCS 2026  —  P.O.L.A.R.I.S.  —  ENERGIE SOLARA ORBITALA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0584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91FF89"/>
                </a:solidFill>
                <a:latin typeface="Futura Md BT"/>
              </a:rPr>
              <a:t>OBIECTIVELE</a:t>
            </a:r>
          </a:p>
          <a:p>
            <a:pPr algn="l"/>
            <a:r>
              <a:rPr sz="4400" b="1">
                <a:solidFill>
                  <a:srgbClr val="91FF89"/>
                </a:solidFill>
                <a:latin typeface="Futura Md BT"/>
              </a:rPr>
              <a:t>CERCETARII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914400"/>
            <a:ext cx="22860" cy="5303520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2040" y="1005840"/>
            <a:ext cx="502920" cy="502920"/>
          </a:xfrm>
          <a:prstGeom prst="rect">
            <a:avLst/>
          </a:prstGeom>
          <a:solidFill>
            <a:srgbClr val="91F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005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31F"/>
                </a:solidFill>
                <a:latin typeface="Futura Md B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960120"/>
            <a:ext cx="6309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4C5AB"/>
                </a:solidFill>
                <a:latin typeface="Segoe UI"/>
              </a:rPr>
              <a:t>Demonstrarea fezabilitatii teoretice a recoltarii energiei solare la 7 milioane km fata de Soare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2029968"/>
            <a:ext cx="502920" cy="502920"/>
          </a:xfrm>
          <a:prstGeom prst="rect">
            <a:avLst/>
          </a:prstGeom>
          <a:solidFill>
            <a:srgbClr val="91F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0299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31F"/>
                </a:solidFill>
                <a:latin typeface="Futura Md B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1984248"/>
            <a:ext cx="6309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4C5AB"/>
                </a:solidFill>
                <a:latin typeface="Segoe UI"/>
              </a:rPr>
              <a:t>Calculul puterii prin lantul complet: oglinzi → laser → Lagrange → YBCO → receptor polar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2040" y="3054096"/>
            <a:ext cx="502920" cy="502920"/>
          </a:xfrm>
          <a:prstGeom prst="rect">
            <a:avLst/>
          </a:prstGeom>
          <a:solidFill>
            <a:srgbClr val="91F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305409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31F"/>
                </a:solidFill>
                <a:latin typeface="Futura Md B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008376"/>
            <a:ext cx="6309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4C5AB"/>
                </a:solidFill>
                <a:latin typeface="Segoe UI"/>
              </a:rPr>
              <a:t>Proiectarea arhitecturii POLARIS: roi Dyson, releu Lagrange, cabluri YBCO, statii plutitoare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4078224"/>
            <a:ext cx="502920" cy="502920"/>
          </a:xfrm>
          <a:prstGeom prst="rect">
            <a:avLst/>
          </a:prstGeom>
          <a:solidFill>
            <a:srgbClr val="91F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407822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31F"/>
                </a:solidFill>
                <a:latin typeface="Futura Md B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4032504"/>
            <a:ext cx="6309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4C5AB"/>
                </a:solidFill>
                <a:latin typeface="Segoe UI"/>
              </a:rPr>
              <a:t>Evaluarea eficientei sistemului si compararea cu cererea globala de energie (IEA 2023: 17,7 TW)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2040" y="5102352"/>
            <a:ext cx="502920" cy="502920"/>
          </a:xfrm>
          <a:prstGeom prst="rect">
            <a:avLst/>
          </a:prstGeom>
          <a:solidFill>
            <a:srgbClr val="91F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51023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31F"/>
                </a:solidFill>
                <a:latin typeface="Futura Md BT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5056632"/>
            <a:ext cx="6309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4C5AB"/>
                </a:solidFill>
                <a:latin typeface="Segoe UI"/>
              </a:rPr>
              <a:t>Identificarea limitarilor actuale si a directiilor de cercetare pentru deceniile 2030–2080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914400"/>
            <a:ext cx="45720" cy="4114800"/>
          </a:xfrm>
          <a:prstGeom prst="rect">
            <a:avLst/>
          </a:prstGeom>
          <a:solidFill>
            <a:srgbClr val="FF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E3B7"/>
                </a:solidFill>
                <a:latin typeface="Segoe UI"/>
              </a:rPr>
              <a:t>ARHITECTURA · NIVEL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Futura Md BT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Segoe UI"/>
              </a:rPr>
              <a:t>ONCS 2026  —  P.O.L.A.R.I.S.  —  ENERGIE SOLARA ORBITALA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0584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E3B7"/>
                </a:solidFill>
                <a:latin typeface="Futura Md BT"/>
              </a:rPr>
              <a:t>ROIURI</a:t>
            </a:r>
          </a:p>
          <a:p>
            <a:pPr algn="l"/>
            <a:r>
              <a:rPr sz="5200" b="1">
                <a:solidFill>
                  <a:srgbClr val="FFE3B7"/>
                </a:solidFill>
                <a:latin typeface="Futura Md BT"/>
              </a:rPr>
              <a:t>DYSON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54680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30 oglinzi orbitale, fiecare cu diametrul de 1 km,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pozitionate la 7 milioane km fata de Soare.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Intensitate solara la aceasta distanta: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I7m = 6,22 x 10^5 W/m2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Putere incidenta totala: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P_incident = 1,46 x 10^13 W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61472"/>
            <a:ext cx="5394960" cy="3009376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20661"/>
            <a:ext cx="12191695" cy="909932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914400"/>
            <a:ext cx="45720" cy="4114800"/>
          </a:xfrm>
          <a:prstGeom prst="rect">
            <a:avLst/>
          </a:prstGeom>
          <a:solidFill>
            <a:srgbClr val="FF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E3B7"/>
                </a:solidFill>
                <a:latin typeface="Segoe UI"/>
              </a:rPr>
              <a:t>FIZICA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20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Futura Md BT"/>
              </a:rPr>
              <a:t>POLARIS BEARS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6446520"/>
            <a:ext cx="114300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Segoe UI"/>
              </a:rPr>
              <a:t>ONCS 2026  —  P.O.L.A.R.I.S.  —  ENERGIE SOLARA ORBITALA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37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Segoe U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00584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D4C5AB"/>
                </a:solidFill>
                <a:latin typeface="Futura Md BT"/>
              </a:rPr>
              <a:t>AVANTAJUL</a:t>
            </a:r>
          </a:p>
          <a:p>
            <a:pPr algn="l"/>
            <a:r>
              <a:rPr sz="4400" b="1">
                <a:solidFill>
                  <a:srgbClr val="D4C5AB"/>
                </a:solidFill>
                <a:latin typeface="Futura Md BT"/>
              </a:rPr>
              <a:t>PROXIMITATII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286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FFE3B7"/>
                </a:solidFill>
                <a:latin typeface="Futura Md BT"/>
              </a:rPr>
              <a:t>450x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160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C5AB"/>
                </a:solidFill>
                <a:latin typeface="Segoe UI"/>
              </a:rPr>
              <a:t>mai multa energie fata de orbita Pamantului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663440"/>
            <a:ext cx="105156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7548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>
                <a:solidFill>
                  <a:srgbClr val="D4C5AB"/>
                </a:solidFill>
                <a:latin typeface="Segoe UI"/>
              </a:rPr>
              <a:t>La 7 milioane km fata de Soare,</a:t>
            </a:r>
          </a:p>
          <a:p>
            <a:pPr algn="l">
              <a:lnSpc>
                <a:spcPct val="145000"/>
              </a:lnSpc>
            </a:pPr>
            <a:r>
              <a:rPr sz="1700">
                <a:solidFill>
                  <a:srgbClr val="D4C5AB"/>
                </a:solidFill>
                <a:latin typeface="Segoe UI"/>
              </a:rPr>
              <a:t>intensitatea solara urmeaza legea inversului patratului:</a:t>
            </a:r>
          </a:p>
          <a:p>
            <a:pPr algn="l">
              <a:lnSpc>
                <a:spcPct val="145000"/>
              </a:lnSpc>
            </a:pPr>
            <a:r>
              <a:rPr sz="17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700">
                <a:solidFill>
                  <a:srgbClr val="D4C5AB"/>
                </a:solidFill>
                <a:latin typeface="Segoe UI"/>
              </a:rPr>
              <a:t>I(r) = P_soare / 4 * pi * r2</a:t>
            </a:r>
          </a:p>
          <a:p>
            <a:pPr algn="l">
              <a:lnSpc>
                <a:spcPct val="145000"/>
              </a:lnSpc>
            </a:pPr>
            <a:r>
              <a:rPr sz="17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700">
                <a:solidFill>
                  <a:srgbClr val="D4C5AB"/>
                </a:solidFill>
                <a:latin typeface="Segoe UI"/>
              </a:rPr>
              <a:t>Acesta este fundamentul fizic al intregului sistem.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914400"/>
            <a:ext cx="45720" cy="4114800"/>
          </a:xfrm>
          <a:prstGeom prst="rect">
            <a:avLst/>
          </a:prstGeom>
          <a:solidFill>
            <a:srgbClr val="BD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DF4FF"/>
                </a:solidFill>
                <a:latin typeface="Segoe UI"/>
              </a:rPr>
              <a:t>ARHITECTURA · NIVEL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Futura Md BT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Segoe UI"/>
              </a:rPr>
              <a:t>ONCS 2026  —  P.O.L.A.R.I.S.  —  ENERGIE SOLARA ORBITALA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0584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BDF4FF"/>
                </a:solidFill>
                <a:latin typeface="Futura Md BT"/>
              </a:rPr>
              <a:t>CONVERSIA</a:t>
            </a:r>
          </a:p>
          <a:p>
            <a:pPr algn="l"/>
            <a:r>
              <a:rPr sz="5200" b="1">
                <a:solidFill>
                  <a:srgbClr val="BDF4FF"/>
                </a:solidFill>
                <a:latin typeface="Futura Md BT"/>
              </a:rPr>
              <a:t>LASER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54680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4 sateliti colectori transforma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lumina solara reflectata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in fascicule laser de inalta putere.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Eficienta de conversie: 43%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Energia solara bruta devine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un fascicul directional si controlabil.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2885"/>
            <a:ext cx="5394960" cy="402655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914400"/>
            <a:ext cx="45720" cy="4114800"/>
          </a:xfrm>
          <a:prstGeom prst="rect">
            <a:avLst/>
          </a:prstGeom>
          <a:solidFill>
            <a:srgbClr val="91F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1FF89"/>
                </a:solidFill>
                <a:latin typeface="Segoe UI"/>
              </a:rPr>
              <a:t>ARHITECTURA · NIVEL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Futura Md BT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Segoe UI"/>
              </a:rPr>
              <a:t>ONCS 2026  —  P.O.L.A.R.I.S.  —  ENERGIE SOLARA ORBITALA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0584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91FF89"/>
                </a:solidFill>
                <a:latin typeface="Futura Md BT"/>
              </a:rPr>
              <a:t>NODURILE</a:t>
            </a:r>
          </a:p>
          <a:p>
            <a:pPr algn="l"/>
            <a:r>
              <a:rPr sz="5200" b="1">
                <a:solidFill>
                  <a:srgbClr val="91FF89"/>
                </a:solidFill>
                <a:latin typeface="Futura Md BT"/>
              </a:rPr>
              <a:t>LAGRANGE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54680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L4 si L5 — puncte gravitational stabile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in sistemul Soare-Pamant.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POLARIS le foloseste ca noduri de releu energetic: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P_L4 = 2,83 TW per nod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Eficienta receptiei la Lagrange: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eta_centralizare = 60%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29651"/>
            <a:ext cx="5394960" cy="267301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914400"/>
            <a:ext cx="45720" cy="4114800"/>
          </a:xfrm>
          <a:prstGeom prst="rect">
            <a:avLst/>
          </a:prstGeom>
          <a:solidFill>
            <a:srgbClr val="BD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DF4FF"/>
                </a:solidFill>
                <a:latin typeface="Segoe UI"/>
              </a:rPr>
              <a:t>MECANICA ORBITALA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Futura Md BT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Segoe UI"/>
              </a:rPr>
              <a:t>ONCS 2026  —  P.O.L.A.R.I.S.  —  ENERGIE SOLARA ORBITALA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0584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BDF4FF"/>
                </a:solidFill>
                <a:latin typeface="Futura Md BT"/>
              </a:rPr>
              <a:t>RATIUNEA</a:t>
            </a:r>
          </a:p>
          <a:p>
            <a:pPr algn="l"/>
            <a:r>
              <a:rPr sz="4000" b="1">
                <a:solidFill>
                  <a:srgbClr val="BDF4FF"/>
                </a:solidFill>
                <a:latin typeface="Futura Md BT"/>
              </a:rPr>
              <a:t>POZITIONARII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54680"/>
            <a:ext cx="7132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>
                <a:solidFill>
                  <a:srgbClr val="D4C5AB"/>
                </a:solidFill>
                <a:latin typeface="Segoe UI"/>
              </a:rPr>
              <a:t>Problema: satelitii colectori orbiteaza rapid</a:t>
            </a:r>
          </a:p>
          <a:p>
            <a:pPr algn="l">
              <a:lnSpc>
                <a:spcPct val="155000"/>
              </a:lnSpc>
            </a:pPr>
            <a:r>
              <a:rPr sz="1600">
                <a:solidFill>
                  <a:srgbClr val="D4C5AB"/>
                </a:solidFill>
                <a:latin typeface="Segoe UI"/>
              </a:rPr>
              <a:t>in apropierea Soarelui. Fara un releu fix,</a:t>
            </a:r>
          </a:p>
          <a:p>
            <a:pPr algn="l">
              <a:lnSpc>
                <a:spcPct val="155000"/>
              </a:lnSpc>
            </a:pPr>
            <a:r>
              <a:rPr sz="1600">
                <a:solidFill>
                  <a:srgbClr val="D4C5AB"/>
                </a:solidFill>
                <a:latin typeface="Segoe UI"/>
              </a:rPr>
              <a:t>fasciculul laser ar baleia imprevizibil Pamantul.</a:t>
            </a:r>
          </a:p>
          <a:p>
            <a:pPr algn="l">
              <a:lnSpc>
                <a:spcPct val="155000"/>
              </a:lnSpc>
            </a:pPr>
            <a:r>
              <a:rPr sz="16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600">
                <a:solidFill>
                  <a:srgbClr val="D4C5AB"/>
                </a:solidFill>
                <a:latin typeface="Segoe UI"/>
              </a:rPr>
              <a:t>Solutia Lagrange: L4 si L5 sunt stabile la</a:t>
            </a:r>
          </a:p>
          <a:p>
            <a:pPr algn="l">
              <a:lnSpc>
                <a:spcPct val="155000"/>
              </a:lnSpc>
            </a:pPr>
            <a:r>
              <a:rPr sz="1600">
                <a:solidFill>
                  <a:srgbClr val="D4C5AB"/>
                </a:solidFill>
                <a:latin typeface="Segoe UI"/>
              </a:rPr>
              <a:t>60° fata de Pamant, la 1 UA fata de Soare.</a:t>
            </a:r>
          </a:p>
          <a:p>
            <a:pPr algn="l">
              <a:lnSpc>
                <a:spcPct val="155000"/>
              </a:lnSpc>
            </a:pPr>
            <a:r>
              <a:rPr sz="16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600">
                <a:solidFill>
                  <a:srgbClr val="D4C5AB"/>
                </a:solidFill>
                <a:latin typeface="Segoe UI"/>
              </a:rPr>
              <a:t>Colector → L4/L5 (mobil→fix)</a:t>
            </a:r>
          </a:p>
          <a:p>
            <a:pPr algn="l">
              <a:lnSpc>
                <a:spcPct val="155000"/>
              </a:lnSpc>
            </a:pPr>
            <a:r>
              <a:rPr sz="1600">
                <a:solidFill>
                  <a:srgbClr val="D4C5AB"/>
                </a:solidFill>
                <a:latin typeface="Segoe UI"/>
              </a:rPr>
              <a:t>L4/L5 → Statie Polara (fix→fix)</a:t>
            </a:r>
          </a:p>
          <a:p>
            <a:pPr algn="l">
              <a:lnSpc>
                <a:spcPct val="155000"/>
              </a:lnSpc>
            </a:pPr>
            <a:r>
              <a:rPr sz="16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600">
                <a:solidFill>
                  <a:srgbClr val="D4C5AB"/>
                </a:solidFill>
                <a:latin typeface="Segoe UI"/>
              </a:rPr>
              <a:t>Fasciculul nu oscileaza deasupra zonelor locuite.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098858"/>
            <a:ext cx="3931920" cy="293460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914400"/>
            <a:ext cx="45720" cy="4114800"/>
          </a:xfrm>
          <a:prstGeom prst="rect">
            <a:avLst/>
          </a:prstGeom>
          <a:solidFill>
            <a:srgbClr val="BD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DF4FF"/>
                </a:solidFill>
                <a:latin typeface="Segoe UI"/>
              </a:rPr>
              <a:t>METODOLOGIE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Futura Md BT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Segoe UI"/>
              </a:rPr>
              <a:t>ONCS 2026  —  P.O.L.A.R.I.S.  —  ENERGIE SOLARA ORBITALA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05840"/>
            <a:ext cx="6400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BDF4FF"/>
                </a:solidFill>
                <a:latin typeface="Futura Md BT"/>
              </a:rPr>
              <a:t>METODOLOGIE</a:t>
            </a:r>
          </a:p>
          <a:p>
            <a:pPr algn="l"/>
            <a:r>
              <a:rPr sz="4800" b="1">
                <a:solidFill>
                  <a:srgbClr val="BDF4FF"/>
                </a:solidFill>
                <a:latin typeface="Futura Md BT"/>
              </a:rPr>
              <a:t>&amp; COMPLEXITATE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2834640"/>
            <a:ext cx="11430000" cy="777240"/>
          </a:xfrm>
          <a:prstGeom prst="rect">
            <a:avLst/>
          </a:prstGeom>
          <a:solidFill>
            <a:srgbClr val="1B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E3B7"/>
                </a:solidFill>
                <a:latin typeface="Consolas"/>
              </a:rPr>
              <a:t>I(r)  →  P_incident  →  eta_oglinzi  →  eta_laser  →  P_L4  →  eta_YBCO  →  P_livrata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79476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6 domenii integrate: fizica  ·  astronomie  ·  inginerie  ·  supraconductivitate  ·  criogenie  ·  mecanica fluidelor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Modele matematice inlantuite: oglinzi → sateliti → L4/L5 → baloane → YBCO → retea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Rezultat final: 1,6 TW livrati  (2 x 800 GW)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Surse: IEA 2023, NASA NIAC, Parker Solar Probe, CERN, JAXA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914400"/>
            <a:ext cx="45720" cy="4114800"/>
          </a:xfrm>
          <a:prstGeom prst="rect">
            <a:avLst/>
          </a:prstGeom>
          <a:solidFill>
            <a:srgbClr val="BD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DF4FF"/>
                </a:solidFill>
                <a:latin typeface="Segoe UI"/>
              </a:rPr>
              <a:t>MATERIALE · NIVEL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Futura Md BT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Segoe UI"/>
              </a:rPr>
              <a:t>ONCS 2026  —  P.O.L.A.R.I.S.  —  ENERGIE SOLARA ORBITALA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0584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BDF4FF"/>
                </a:solidFill>
                <a:latin typeface="Futura Md BT"/>
              </a:rPr>
              <a:t>SUPRACONDUCTORI</a:t>
            </a:r>
          </a:p>
          <a:p>
            <a:pPr algn="l"/>
            <a:r>
              <a:rPr sz="5200" b="1">
                <a:solidFill>
                  <a:srgbClr val="BDF4FF"/>
                </a:solidFill>
                <a:latin typeface="Futura Md BT"/>
              </a:rPr>
              <a:t>YBCO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54680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Cabluri YBCO (itriu-bariu-cupru-oxid) —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inspiratie din consulturi cu fizicieni CERN.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Temperatura de operare: 77 K (azot lichid)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vs. NbTi la CERN LHC: 1,9 K (heliu lichid)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Masa per cablu: ~7 tone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Densitate curent: j &lt;= j_c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Pierderi de transmisie: aproape zero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2885"/>
            <a:ext cx="5394960" cy="402655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379" y="0"/>
            <a:ext cx="1229445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914400"/>
            <a:ext cx="45720" cy="4114800"/>
          </a:xfrm>
          <a:prstGeom prst="rect">
            <a:avLst/>
          </a:prstGeom>
          <a:solidFill>
            <a:srgbClr val="91F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1FF89"/>
                </a:solidFill>
                <a:latin typeface="Segoe UI"/>
              </a:rPr>
              <a:t>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20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Futura Md BT"/>
              </a:rPr>
              <a:t>POLARIS BEARS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6446520"/>
            <a:ext cx="114300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Segoe UI"/>
              </a:rPr>
              <a:t>ONCS 2026  —  P.O.L.A.R.I.S.  —  ENERGIE SOLARA ORBITALA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37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Segoe U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00584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D4C5AB"/>
                </a:solidFill>
                <a:latin typeface="Futura Md BT"/>
              </a:rPr>
              <a:t>NUMERELE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286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91FF89"/>
                </a:solidFill>
                <a:latin typeface="Futura Md BT"/>
              </a:rPr>
              <a:t>1,6 TW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160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C5AB"/>
                </a:solidFill>
                <a:latin typeface="Segoe UI"/>
              </a:rPr>
              <a:t>livrati pe Pamant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663440"/>
            <a:ext cx="105156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7548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>
                <a:solidFill>
                  <a:srgbClr val="D4C5AB"/>
                </a:solidFill>
                <a:latin typeface="Segoe UI"/>
              </a:rPr>
              <a:t>2 statii polare x 800 GW fiecare</a:t>
            </a:r>
          </a:p>
          <a:p>
            <a:pPr algn="l">
              <a:lnSpc>
                <a:spcPct val="145000"/>
              </a:lnSpc>
            </a:pPr>
            <a:r>
              <a:rPr sz="1700">
                <a:solidFill>
                  <a:srgbClr val="D4C5AB"/>
                </a:solidFill>
                <a:latin typeface="Segoe UI"/>
              </a:rPr>
              <a:t>= 48% din consumul global de electricitate</a:t>
            </a:r>
          </a:p>
          <a:p>
            <a:pPr algn="l">
              <a:lnSpc>
                <a:spcPct val="145000"/>
              </a:lnSpc>
            </a:pPr>
            <a:r>
              <a:rPr sz="17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700">
                <a:solidFill>
                  <a:srgbClr val="D4C5AB"/>
                </a:solidFill>
                <a:latin typeface="Segoe UI"/>
              </a:rPr>
              <a:t>Cerere globala: 17,7 TW  (IEA 2023)</a:t>
            </a:r>
          </a:p>
          <a:p>
            <a:pPr algn="l">
              <a:lnSpc>
                <a:spcPct val="145000"/>
              </a:lnSpc>
            </a:pPr>
            <a:r>
              <a:rPr sz="1700">
                <a:solidFill>
                  <a:srgbClr val="D4C5AB"/>
                </a:solidFill>
                <a:latin typeface="Segoe UI"/>
              </a:rPr>
              <a:t>Eficienta cumulata a lantului: eta = 11%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914400"/>
            <a:ext cx="45720" cy="4114800"/>
          </a:xfrm>
          <a:prstGeom prst="rect">
            <a:avLst/>
          </a:prstGeom>
          <a:solidFill>
            <a:srgbClr val="FF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E3B7"/>
                </a:solidFill>
                <a:latin typeface="Segoe UI"/>
              </a:rPr>
              <a:t>ARHITECTURA · NIVEL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Futura Md BT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Segoe UI"/>
              </a:rPr>
              <a:t>ONCS 2026  —  P.O.L.A.R.I.S.  —  ENERGIE SOLARA ORBITALA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0584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E3B7"/>
                </a:solidFill>
                <a:latin typeface="Futura Md BT"/>
              </a:rPr>
              <a:t>STATII</a:t>
            </a:r>
          </a:p>
          <a:p>
            <a:pPr algn="l"/>
            <a:r>
              <a:rPr sz="5200" b="1">
                <a:solidFill>
                  <a:srgbClr val="FFE3B7"/>
                </a:solidFill>
                <a:latin typeface="Futura Md BT"/>
              </a:rPr>
              <a:t>PLUTITOARE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54680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Fiecare statie polara cantareste 4 tone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si este suspendata la 30 km altitudine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prin baloane cu heliu.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Principiul lui Arhimede —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aplicat la scara planetara.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Pozitie: deasupra polilor magnetici,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zona cu cea mai mica densitate de populatie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din calea fasciculului laser.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2885"/>
            <a:ext cx="5394960" cy="402655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914400"/>
            <a:ext cx="45720" cy="4114800"/>
          </a:xfrm>
          <a:prstGeom prst="rect">
            <a:avLst/>
          </a:prstGeom>
          <a:solidFill>
            <a:srgbClr val="BD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DF4FF"/>
                </a:solidFill>
                <a:latin typeface="Segoe UI"/>
              </a:rPr>
              <a:t>EXTENSIE · VIITOR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Futura Md BT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Segoe UI"/>
              </a:rPr>
              <a:t>ONCS 2026  —  P.O.L.A.R.I.S.  —  ENERGIE SOLARA ORBITALA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0584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BDF4FF"/>
                </a:solidFill>
                <a:latin typeface="Futura Md BT"/>
              </a:rPr>
              <a:t>STAR POWER</a:t>
            </a:r>
          </a:p>
          <a:p>
            <a:pPr algn="l"/>
            <a:r>
              <a:rPr sz="5200" b="1">
                <a:solidFill>
                  <a:srgbClr val="BDF4FF"/>
                </a:solidFill>
                <a:latin typeface="Futura Md BT"/>
              </a:rPr>
              <a:t>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54680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Energia surplus de la L4/L5 nu se opreste acolo.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Reteaua Star Power Grid extinde transmisia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prin microunde GEO (orbita geostationa)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catre regiuni indepartate si slab deservite.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Energie curata, fara infrastructura terestra.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Orizont temporal: 30 – 50 ani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61472"/>
            <a:ext cx="5394960" cy="3009376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914400"/>
            <a:ext cx="45720" cy="4114800"/>
          </a:xfrm>
          <a:prstGeom prst="rect">
            <a:avLst/>
          </a:prstGeom>
          <a:solidFill>
            <a:srgbClr val="FF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E3B7"/>
                </a:solidFill>
                <a:latin typeface="Segoe UI"/>
              </a:rPr>
              <a:t>CONTEXT CIVILIZATIONAL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Futura Md BT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Segoe UI"/>
              </a:rPr>
              <a:t>ONCS 2026  —  P.O.L.A.R.I.S.  —  ENERGIE SOLARA ORBITALA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0584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E3B7"/>
                </a:solidFill>
                <a:latin typeface="Futura Md BT"/>
              </a:rPr>
              <a:t>SCALA</a:t>
            </a:r>
          </a:p>
          <a:p>
            <a:pPr algn="l"/>
            <a:r>
              <a:rPr sz="5200" b="1">
                <a:solidFill>
                  <a:srgbClr val="FFE3B7"/>
                </a:solidFill>
                <a:latin typeface="Futura Md BT"/>
              </a:rPr>
              <a:t>KARDASHEV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54680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Tip 0: energie din materie organica moarta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Tip I: toata energia disponibila pe planeta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Tip II: toata energia unui sistem solar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Omenirea se afla azi la ~0,73 pe scala.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POLARIS este puntea spre Tipul I —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nu doar un proiect energetic,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ci o tranzitie civilizationala.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61472"/>
            <a:ext cx="5394960" cy="3009376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914400"/>
            <a:ext cx="45720" cy="4114800"/>
          </a:xfrm>
          <a:prstGeom prst="rect">
            <a:avLst/>
          </a:prstGeom>
          <a:solidFill>
            <a:srgbClr val="91F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1FF89"/>
                </a:solidFill>
                <a:latin typeface="Segoe UI"/>
              </a:rPr>
              <a:t>INOVATIE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Futura Md BT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Segoe UI"/>
              </a:rPr>
              <a:t>ONCS 2026  —  P.O.L.A.R.I.S.  —  ENERGIE SOLARA ORBITALA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0584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91FF89"/>
                </a:solidFill>
                <a:latin typeface="Futura Md BT"/>
              </a:rPr>
              <a:t>ARHITECTURA</a:t>
            </a:r>
          </a:p>
          <a:p>
            <a:pPr algn="l"/>
            <a:r>
              <a:rPr sz="5200" b="1">
                <a:solidFill>
                  <a:srgbClr val="91FF89"/>
                </a:solidFill>
                <a:latin typeface="Futura Md BT"/>
              </a:rPr>
              <a:t>ORIGINALA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54680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Nicio lucrare existenta nu combina: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·  Roi Dyson la 7 milioane km fata de Soare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·  Noduri de releu energetic Lagrange L4/L5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·  Cabluri supraconductoare HTS YBCO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·  Statii polare suspendate balonistic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POLARIS este o arhitectura cu adevarat noua.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61472"/>
            <a:ext cx="5394960" cy="3009376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914400"/>
            <a:ext cx="45720" cy="4114800"/>
          </a:xfrm>
          <a:prstGeom prst="rect">
            <a:avLst/>
          </a:prstGeom>
          <a:solidFill>
            <a:srgbClr val="BD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DF4FF"/>
                </a:solidFill>
                <a:latin typeface="Segoe UI"/>
              </a:rPr>
              <a:t>VALIDARE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Futura Md BT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Segoe UI"/>
              </a:rPr>
              <a:t>ONCS 2026  —  P.O.L.A.R.I.S.  —  ENERGIE SOLARA ORBITALA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0584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BDF4FF"/>
                </a:solidFill>
                <a:latin typeface="Futura Md BT"/>
              </a:rPr>
              <a:t>FUNDAMENT</a:t>
            </a:r>
          </a:p>
          <a:p>
            <a:pPr algn="l"/>
            <a:r>
              <a:rPr sz="5200" b="1">
                <a:solidFill>
                  <a:srgbClr val="BDF4FF"/>
                </a:solidFill>
                <a:latin typeface="Futura Md BT"/>
              </a:rPr>
              <a:t>STIINTIFIC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54680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·  NASA Parker Solar Probe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   → a ajuns la 6,1 milioane km fata de Soare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·  CERN — cercetare YBCO &amp; consultare directa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·  JAXA — transmisie wireless de energie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   prin microunde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·  NASA NIAC — studii de fezabilitate SBSP</a:t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>
                <a:solidFill>
                  <a:srgbClr val="D4C5AB"/>
                </a:solidFill>
                <a:latin typeface="Segoe UI"/>
              </a:rPr>
              <a:t>POLARIS se construieste pe stiinta de varf.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61472"/>
            <a:ext cx="5394960" cy="3009376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914400"/>
            <a:ext cx="45720" cy="4114800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32"/>
                </a:solidFill>
                <a:latin typeface="Segoe UI"/>
              </a:rPr>
              <a:t>MATURITATE STIINTIFICA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Futura Md BT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Segoe UI"/>
              </a:rPr>
              <a:t>ONCS 2026  —  P.O.L.A.R.I.S.  —  ENERGIE SOLARA ORBITALA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058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4F4632"/>
                </a:solidFill>
                <a:latin typeface="Futura Md BT"/>
              </a:rPr>
              <a:t>LIMITARI</a:t>
            </a:r>
          </a:p>
          <a:p>
            <a:pPr algn="l"/>
            <a:r>
              <a:rPr sz="5200" b="1">
                <a:solidFill>
                  <a:srgbClr val="4F4632"/>
                </a:solidFill>
                <a:latin typeface="Futura Md BT"/>
              </a:rPr>
              <a:t>CUNOSCUTE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175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900">
                <a:solidFill>
                  <a:srgbClr val="D4C5AB"/>
                </a:solidFill>
                <a:latin typeface="Segoe UI"/>
              </a:rPr>
              <a:t>·  Fabricarea si lansarea oglinzilor de 1 km la 7 milioane km</a:t>
            </a:r>
          </a:p>
          <a:p>
            <a:pPr algn="l">
              <a:lnSpc>
                <a:spcPct val="155000"/>
              </a:lnSpc>
            </a:pPr>
            <a:r>
              <a:rPr sz="1900">
                <a:solidFill>
                  <a:srgbClr val="D4C5AB"/>
                </a:solidFill>
                <a:latin typeface="Segoe UI"/>
              </a:rPr>
              <a:t>   — tehnologie inexistenta in prezent</a:t>
            </a:r>
          </a:p>
          <a:p>
            <a:pPr algn="l">
              <a:lnSpc>
                <a:spcPct val="155000"/>
              </a:lnSpc>
            </a:pPr>
            <a:r>
              <a:rPr sz="19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900">
                <a:solidFill>
                  <a:srgbClr val="D4C5AB"/>
                </a:solidFill>
                <a:latin typeface="Segoe UI"/>
              </a:rPr>
              <a:t>·  Mententa robotica la distante extreme — nerezolvata</a:t>
            </a:r>
          </a:p>
          <a:p>
            <a:pPr algn="l">
              <a:lnSpc>
                <a:spcPct val="155000"/>
              </a:lnSpc>
            </a:pPr>
            <a:r>
              <a:rPr sz="19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900">
                <a:solidFill>
                  <a:srgbClr val="D4C5AB"/>
                </a:solidFill>
                <a:latin typeface="Segoe UI"/>
              </a:rPr>
              <a:t>·  Eficienta cumulata eta = 11% — necesita verificare experimentala</a:t>
            </a:r>
          </a:p>
          <a:p>
            <a:pPr algn="l">
              <a:lnSpc>
                <a:spcPct val="155000"/>
              </a:lnSpc>
            </a:pPr>
            <a:r>
              <a:rPr sz="19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900">
                <a:solidFill>
                  <a:srgbClr val="D4C5AB"/>
                </a:solidFill>
                <a:latin typeface="Segoe UI"/>
              </a:rPr>
              <a:t>·  Impactul fasciculelor laser de mare putere asupra atmosferei — partial neevaluat</a:t>
            </a:r>
          </a:p>
          <a:p>
            <a:pPr algn="l">
              <a:lnSpc>
                <a:spcPct val="155000"/>
              </a:lnSpc>
            </a:pPr>
            <a:r>
              <a:rPr sz="19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900">
                <a:solidFill>
                  <a:srgbClr val="D4C5AB"/>
                </a:solidFill>
                <a:latin typeface="Segoe UI"/>
              </a:rPr>
              <a:t>Recunoasterea limitarilor este parte integranta a abordarii stiintifice rigoroase.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731520"/>
            <a:ext cx="73152" cy="5394960"/>
          </a:xfrm>
          <a:prstGeom prst="rect">
            <a:avLst/>
          </a:prstGeom>
          <a:solidFill>
            <a:srgbClr val="FF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0" y="320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Futura Md BT"/>
              </a:rPr>
              <a:t>POLARIS BEARS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E3B7"/>
                </a:solidFill>
                <a:latin typeface="Segoe UI"/>
              </a:rPr>
              <a:t>CONCLUZIE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Futura Md BT"/>
              </a:rPr>
              <a:t>POLARIS nu este doar un concept.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Futura Md BT"/>
              </a:rPr>
              <a:t>Este un model teoretic coerent care demonstreaza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Futura Md BT"/>
              </a:rPr>
              <a:t>ca energia solara spatiala ar putea deveni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Futura Md BT"/>
              </a:rPr>
              <a:t>coloana vertebrala a infrastructurii energetice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Futura Md BT"/>
              </a:rPr>
              <a:t>a umanitatii in secolul XXI.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446520"/>
            <a:ext cx="114300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Segoe UI"/>
              </a:rPr>
              <a:t>ONCS 2026  —  P.O.L.A.R.I.S.  —  ENERGIE SOLARA ORBITALA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54864" cy="6035040"/>
          </a:xfrm>
          <a:prstGeom prst="rect">
            <a:avLst/>
          </a:prstGeom>
          <a:solidFill>
            <a:srgbClr val="BD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DF4FF"/>
                </a:solidFill>
                <a:latin typeface="Segoe UI"/>
              </a:rPr>
              <a:t>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Futura Md BT"/>
              </a:rPr>
              <a:t>POLARIS BEARS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9436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BDF4FF"/>
                </a:solidFill>
                <a:latin typeface="Futura Md BT"/>
              </a:rPr>
              <a:t>ECHIPA &amp;</a:t>
            </a:r>
          </a:p>
          <a:p>
            <a:pPr algn="l"/>
            <a:r>
              <a:rPr sz="3800" b="1">
                <a:solidFill>
                  <a:srgbClr val="BDF4FF"/>
                </a:solidFill>
                <a:latin typeface="Futura Md BT"/>
              </a:rPr>
              <a:t>BIBLIOGRAFIE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57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E3B7"/>
                </a:solidFill>
                <a:latin typeface="Segoe UI"/>
              </a:rPr>
              <a:t>ECHIPA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377440"/>
            <a:ext cx="530352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487168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D4C5AB"/>
                </a:solidFill>
                <a:latin typeface="Segoe UI"/>
              </a:rPr>
              <a:t>Ioan CHELARU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D4C5AB"/>
                </a:solidFill>
                <a:latin typeface="Segoe UI"/>
              </a:rPr>
              <a:t>  Arhitectura sistem, calcule energetice,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D4C5AB"/>
                </a:solidFill>
                <a:latin typeface="Segoe UI"/>
              </a:rPr>
              <a:t>  supraconductori YBCO, dinamica orbitala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D4C5AB"/>
                </a:solidFill>
                <a:latin typeface="Segoe UI"/>
              </a:rPr>
              <a:t>Albert OLARIU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D4C5AB"/>
                </a:solidFill>
                <a:latin typeface="Segoe UI"/>
              </a:rPr>
              <a:t>  Modelare vizuala, scala Kardashev,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D4C5AB"/>
                </a:solidFill>
                <a:latin typeface="Segoe UI"/>
              </a:rPr>
              <a:t>  reteaua Star Power Grid, prezentare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D4C5AB"/>
                </a:solidFill>
                <a:latin typeface="Segoe U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D4C5AB"/>
                </a:solidFill>
                <a:latin typeface="Segoe UI"/>
              </a:rPr>
              <a:t>Colaboratori: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D4C5AB"/>
                </a:solidFill>
                <a:latin typeface="Segoe UI"/>
              </a:rPr>
              <a:t>  — de completat —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780" y="914400"/>
            <a:ext cx="34290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526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DF4FF"/>
                </a:solidFill>
                <a:latin typeface="Segoe UI"/>
              </a:rPr>
              <a:t>BIBLIOGRAFIE — STIL HARVARD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892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F4632"/>
                </a:solidFill>
                <a:latin typeface="Segoe UI"/>
              </a:rPr>
              <a:t>Mankins (2011) · ESA (2023) · Glaser (1968) · Benford &amp; Benford (2015) · Kardashev (1964) · NASA NIAC · Parker Solar Probe · Lagrange Points · JAXA SSPS · IEA World Energy Outlook 2023 · Chou et al. (2019) · Aschenbrenner (2023)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446520"/>
            <a:ext cx="114300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Segoe UI"/>
              </a:rPr>
              <a:t>ONCS 2026  —  P.O.L.A.R.I.S.  —  ENERGIE SOLARA ORBITALA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37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